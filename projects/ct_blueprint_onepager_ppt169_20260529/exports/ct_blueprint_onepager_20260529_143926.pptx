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业界的 Control Tower 大多是封闭产品，灵活性差，定制成本高，所以我们决定自研一套面向供应链的 Control Tower。整张图自下而上一共六层。最底是基础设施层，复用现有的数据库、容器化计算环境、缓存与对象存储、配置中心和消息中间件。往上是监控与检测层，由调度器按 cron 表达式触发，调用我们已有的 Ontology 转 SQL 引擎查数，规则引擎做阈值判断后由事件发布器生成结构化 Event，每个 Event 自带 trace_id。Event 进入 RabbitMQ 主队列，按 Consumer Group 保证仅消费一次，连续失败三次的事件会被隔离到死信队列重试，避免阻塞主链路。再往上是 Control Tower 核心，由 Policy Engine、Agent Registry、Task Orchestrator 加 SAGA、Data Broker 和 Escalation Manager 五个模块组成，路由完全由 YAML 配置驱动，不依赖 LLM 决策，保证生产稳定性。核心层与业务 Agent 之间通过参考 A2A 设计的自定义协议双向通信，CT 通过 Webhook 推送任务，Agent 通过 result、query、escalate 三个回调接口反馈，所有调用都用 JWT Auth 鉴权，能力与权限在 Agent Card 里声明。最上层是各部门自研的业务 Agent 加人工介入入口，置信度低、有高风险或不可逆操作时自动升级人工，由审批 UI 或 Slack Bot 完成批准、拒绝或修改。整图右侧是可观测性贯穿条，OpenTelemetry Trace 接 Jaeger、结构化日志、Dashboard 和 Event Store 不可变审计，全部围绕同一个 trace_id 打通，保证从异常发现到闭环每一步都可追溯。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360045" y="221932"/>
            <a:ext cx="4235084" cy="466249"/>
            <a:chOff x="360045" y="221932"/>
            <a:chExt cx="4235084" cy="466249"/>
          </a:xfrm>
        </p:grpSpPr>
        <p:sp>
          <p:nvSpPr>
            <p:cNvPr id="3" name="TextBox 3"/>
            <p:cNvSpPr txBox="1"/>
            <p:nvPr/>
          </p:nvSpPr>
          <p:spPr>
            <a:xfrm>
              <a:off x="360045" y="221932"/>
              <a:ext cx="423508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Supply Chain Control Tower · 分层蓝图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70522" y="520541"/>
              <a:ext cx="19406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事件驱动 · 统一监控 → 发现异常 → 闭环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90500" y="852488"/>
            <a:ext cx="9620250" cy="538162"/>
            <a:chOff x="190500" y="852488"/>
            <a:chExt cx="9620250" cy="538162"/>
          </a:xfrm>
        </p:grpSpPr>
        <p:sp>
          <p:nvSpPr>
            <p:cNvPr id="6" name="TextBox 6"/>
            <p:cNvSpPr txBox="1"/>
            <p:nvPr/>
          </p:nvSpPr>
          <p:spPr>
            <a:xfrm>
              <a:off x="371475" y="852488"/>
              <a:ext cx="1216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L5 · 业务生态 + 人工介入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190500" y="876300"/>
              <a:ext cx="116681" cy="133350"/>
            </a:xfrm>
            <a:custGeom>
              <a:avLst/>
              <a:gdLst/>
              <a:ahLst/>
              <a:cxnLst/>
              <a:rect l="l" t="t" r="r" b="b"/>
              <a:pathLst>
                <a:path w="116681" h="133350">
                  <a:moveTo>
                    <a:pt x="91678" y="50006"/>
                  </a:moveTo>
                  <a:cubicBezTo>
                    <a:pt x="105487" y="50006"/>
                    <a:pt x="116681" y="38812"/>
                    <a:pt x="116681" y="25003"/>
                  </a:cubicBezTo>
                  <a:cubicBezTo>
                    <a:pt x="116681" y="11194"/>
                    <a:pt x="105487" y="0"/>
                    <a:pt x="91678" y="0"/>
                  </a:cubicBezTo>
                  <a:cubicBezTo>
                    <a:pt x="77869" y="0"/>
                    <a:pt x="66675" y="11194"/>
                    <a:pt x="66675" y="25003"/>
                  </a:cubicBezTo>
                  <a:cubicBezTo>
                    <a:pt x="66675" y="26868"/>
                    <a:pt x="66879" y="28684"/>
                    <a:pt x="67266" y="30432"/>
                  </a:cubicBezTo>
                  <a:lnTo>
                    <a:pt x="40577" y="47113"/>
                  </a:lnTo>
                  <a:cubicBezTo>
                    <a:pt x="36304" y="43707"/>
                    <a:pt x="30892" y="41672"/>
                    <a:pt x="25003" y="41672"/>
                  </a:cubicBezTo>
                  <a:cubicBezTo>
                    <a:pt x="11194" y="41672"/>
                    <a:pt x="0" y="52866"/>
                    <a:pt x="0" y="66675"/>
                  </a:cubicBezTo>
                  <a:cubicBezTo>
                    <a:pt x="0" y="80484"/>
                    <a:pt x="11194" y="91678"/>
                    <a:pt x="25003" y="91678"/>
                  </a:cubicBezTo>
                  <a:cubicBezTo>
                    <a:pt x="30892" y="91678"/>
                    <a:pt x="36304" y="89643"/>
                    <a:pt x="40577" y="86237"/>
                  </a:cubicBezTo>
                  <a:lnTo>
                    <a:pt x="67266" y="102918"/>
                  </a:lnTo>
                  <a:cubicBezTo>
                    <a:pt x="66879" y="104666"/>
                    <a:pt x="66675" y="106482"/>
                    <a:pt x="66675" y="108347"/>
                  </a:cubicBezTo>
                  <a:cubicBezTo>
                    <a:pt x="66675" y="122156"/>
                    <a:pt x="77869" y="133350"/>
                    <a:pt x="91678" y="133350"/>
                  </a:cubicBezTo>
                  <a:cubicBezTo>
                    <a:pt x="105487" y="133350"/>
                    <a:pt x="116681" y="122156"/>
                    <a:pt x="116681" y="108347"/>
                  </a:cubicBezTo>
                  <a:cubicBezTo>
                    <a:pt x="116681" y="94538"/>
                    <a:pt x="105487" y="83344"/>
                    <a:pt x="91678" y="83344"/>
                  </a:cubicBezTo>
                  <a:cubicBezTo>
                    <a:pt x="85790" y="83344"/>
                    <a:pt x="80377" y="85379"/>
                    <a:pt x="76104" y="88785"/>
                  </a:cubicBezTo>
                  <a:lnTo>
                    <a:pt x="49415" y="72104"/>
                  </a:lnTo>
                  <a:cubicBezTo>
                    <a:pt x="49802" y="70356"/>
                    <a:pt x="50006" y="68539"/>
                    <a:pt x="50006" y="66675"/>
                  </a:cubicBezTo>
                  <a:cubicBezTo>
                    <a:pt x="50006" y="64811"/>
                    <a:pt x="49802" y="62994"/>
                    <a:pt x="49415" y="61246"/>
                  </a:cubicBezTo>
                  <a:lnTo>
                    <a:pt x="76104" y="44565"/>
                  </a:lnTo>
                  <a:cubicBezTo>
                    <a:pt x="80377" y="47971"/>
                    <a:pt x="85790" y="50006"/>
                    <a:pt x="91678" y="50006"/>
                  </a:cubicBezTo>
                  <a:close/>
                </a:path>
              </a:pathLst>
            </a:custGeom>
            <a:solidFill>
              <a:srgbClr val="712B13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381000" y="1009650"/>
              <a:ext cx="1619250" cy="381000"/>
              <a:chOff x="381000" y="1009650"/>
              <a:chExt cx="1619250" cy="381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381000" y="1009650"/>
                <a:ext cx="161925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FAECE7"/>
              </a:solidFill>
              <a:ln w="9525">
                <a:solidFill>
                  <a:srgbClr val="F0997B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511492" y="1075849"/>
                <a:ext cx="7141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712B13"/>
                    </a:solidFill>
                    <a:latin typeface="Arial"/>
                    <a:ea typeface="Microsoft YaHei"/>
                    <a:cs typeface="Arial"/>
                  </a:rPr>
                  <a:t>运输 Agent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14350" y="1233488"/>
                <a:ext cx="419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712B13">
                        <a:alphaMod val="75000"/>
                      </a:srgbClr>
                    </a:solidFill>
                    <a:latin typeface="Arial"/>
                    <a:ea typeface="Microsoft YaHei"/>
                    <a:cs typeface="Arial"/>
                  </a:rPr>
                  <a:t>部门自研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057400" y="1009650"/>
              <a:ext cx="1619250" cy="381000"/>
              <a:chOff x="2057400" y="1009650"/>
              <a:chExt cx="1619250" cy="381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2057400" y="1009650"/>
                <a:ext cx="161925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FAECE7"/>
              </a:solidFill>
              <a:ln w="9525">
                <a:solidFill>
                  <a:srgbClr val="F0997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187892" y="1075849"/>
                <a:ext cx="7141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712B13"/>
                    </a:solidFill>
                    <a:latin typeface="Arial"/>
                    <a:ea typeface="Microsoft YaHei"/>
                    <a:cs typeface="Arial"/>
                  </a:rPr>
                  <a:t>仓储 Agent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190750" y="1233488"/>
                <a:ext cx="419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712B13">
                        <a:alphaMod val="75000"/>
                      </a:srgbClr>
                    </a:solidFill>
                    <a:latin typeface="Arial"/>
                    <a:ea typeface="Microsoft YaHei"/>
                    <a:cs typeface="Arial"/>
                  </a:rPr>
                  <a:t>部门自研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33800" y="1009650"/>
              <a:ext cx="1619250" cy="381000"/>
              <a:chOff x="3733800" y="1009650"/>
              <a:chExt cx="1619250" cy="381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733800" y="1009650"/>
                <a:ext cx="161925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FAECE7"/>
              </a:solidFill>
              <a:ln w="9525">
                <a:solidFill>
                  <a:srgbClr val="F0997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864292" y="1075849"/>
                <a:ext cx="7141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712B13"/>
                    </a:solidFill>
                    <a:latin typeface="Arial"/>
                    <a:ea typeface="Microsoft YaHei"/>
                    <a:cs typeface="Arial"/>
                  </a:rPr>
                  <a:t>采购 Agent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867150" y="1233488"/>
                <a:ext cx="419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712B13">
                        <a:alphaMod val="75000"/>
                      </a:srgbClr>
                    </a:solidFill>
                    <a:latin typeface="Arial"/>
                    <a:ea typeface="Microsoft YaHei"/>
                    <a:cs typeface="Arial"/>
                  </a:rPr>
                  <a:t>部门自研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410200" y="1009650"/>
              <a:ext cx="1619250" cy="381000"/>
              <a:chOff x="5410200" y="1009650"/>
              <a:chExt cx="1619250" cy="381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5410200" y="1009650"/>
                <a:ext cx="161925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FFFFFF"/>
              </a:solidFill>
              <a:ln w="9525">
                <a:solidFill>
                  <a:srgbClr val="F0997B"/>
                </a:solidFill>
                <a:prstDash val="dash"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540692" y="1075849"/>
                <a:ext cx="8233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712B13"/>
                    </a:solidFill>
                    <a:latin typeface="Arial"/>
                    <a:ea typeface="Microsoft YaHei"/>
                    <a:cs typeface="Arial"/>
                  </a:rPr>
                  <a:t>… 可插拔扩展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543550" y="1233488"/>
                <a:ext cx="110418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712B13">
                        <a:alphaMod val="65000"/>
                      </a:srgbClr>
                    </a:solidFill>
                    <a:latin typeface="Arial"/>
                    <a:ea typeface="Microsoft YaHei"/>
                    <a:cs typeface="Arial"/>
                  </a:rPr>
                  <a:t>注册 Agent Card 即接入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181850" y="1009650"/>
              <a:ext cx="2628900" cy="381000"/>
              <a:chOff x="7181850" y="1009650"/>
              <a:chExt cx="2628900" cy="381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181850" y="1009650"/>
                <a:ext cx="26289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FAEEDA"/>
              </a:solidFill>
              <a:ln w="9525">
                <a:solidFill>
                  <a:srgbClr val="EF9F27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7348538" y="1116806"/>
                <a:ext cx="142875" cy="166688"/>
                <a:chOff x="7348538" y="1116806"/>
                <a:chExt cx="142875" cy="166688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7384256" y="111680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35719" y="71438"/>
                      </a:moveTo>
                      <a:cubicBezTo>
                        <a:pt x="55446" y="71438"/>
                        <a:pt x="71438" y="55446"/>
                        <a:pt x="71438" y="35719"/>
                      </a:cubicBezTo>
                      <a:cubicBezTo>
                        <a:pt x="71438" y="15992"/>
                        <a:pt x="55446" y="0"/>
                        <a:pt x="35719" y="0"/>
                      </a:cubicBezTo>
                      <a:cubicBezTo>
                        <a:pt x="15992" y="0"/>
                        <a:pt x="0" y="15992"/>
                        <a:pt x="0" y="35719"/>
                      </a:cubicBezTo>
                      <a:cubicBezTo>
                        <a:pt x="0" y="55446"/>
                        <a:pt x="15992" y="71438"/>
                        <a:pt x="35719" y="71438"/>
                      </a:cubicBezTo>
                      <a:close/>
                    </a:path>
                  </a:pathLst>
                </a:custGeom>
                <a:solidFill>
                  <a:srgbClr val="633806"/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7348538" y="1212056"/>
                  <a:ext cx="142875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71438">
                      <a:moveTo>
                        <a:pt x="142875" y="35719"/>
                      </a:moveTo>
                      <a:cubicBezTo>
                        <a:pt x="142875" y="15991"/>
                        <a:pt x="126884" y="0"/>
                        <a:pt x="107156" y="0"/>
                      </a:cubicBezTo>
                      <a:lnTo>
                        <a:pt x="35719" y="0"/>
                      </a:lnTo>
                      <a:cubicBezTo>
                        <a:pt x="15992" y="0"/>
                        <a:pt x="0" y="15991"/>
                        <a:pt x="0" y="35719"/>
                      </a:cubicBezTo>
                      <a:lnTo>
                        <a:pt x="0" y="71438"/>
                      </a:lnTo>
                      <a:lnTo>
                        <a:pt x="142875" y="71438"/>
                      </a:lnTo>
                      <a:lnTo>
                        <a:pt x="142875" y="35719"/>
                      </a:lnTo>
                      <a:close/>
                    </a:path>
                  </a:pathLst>
                </a:custGeom>
                <a:solidFill>
                  <a:srgbClr val="633806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7579042" y="1075849"/>
                <a:ext cx="18609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633806"/>
                    </a:solidFill>
                    <a:latin typeface="Arial"/>
                    <a:ea typeface="Microsoft YaHei"/>
                    <a:cs typeface="Arial"/>
                  </a:rPr>
                  <a:t>人工介入 · 审批 / 拒绝 / 修改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581900" y="1233488"/>
                <a:ext cx="176426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33806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置信度低 · 高风险 · 不可逆操作 → 升级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5047738" y="1475899"/>
            <a:ext cx="1399353" cy="198120"/>
            <a:chOff x="5047738" y="1475899"/>
            <a:chExt cx="1399353" cy="198120"/>
          </a:xfrm>
        </p:grpSpPr>
        <p:sp>
          <p:nvSpPr>
            <p:cNvPr id="32" name="TextBox 32"/>
            <p:cNvSpPr txBox="1"/>
            <p:nvPr/>
          </p:nvSpPr>
          <p:spPr>
            <a:xfrm>
              <a:off x="5047738" y="1475899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77802" y="1508284"/>
              <a:ext cx="116928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双向通信 (REST + Webhook)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90500" y="1728788"/>
            <a:ext cx="9620250" cy="538162"/>
            <a:chOff x="190500" y="1728788"/>
            <a:chExt cx="9620250" cy="538162"/>
          </a:xfrm>
        </p:grpSpPr>
        <p:sp>
          <p:nvSpPr>
            <p:cNvPr id="35" name="TextBox 35"/>
            <p:cNvSpPr txBox="1"/>
            <p:nvPr/>
          </p:nvSpPr>
          <p:spPr>
            <a:xfrm>
              <a:off x="371475" y="1728788"/>
              <a:ext cx="184102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L4 · 通信协议层（参考 A2A · 自定义）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190500" y="1752600"/>
              <a:ext cx="133350" cy="133350"/>
              <a:chOff x="190500" y="1752600"/>
              <a:chExt cx="133350" cy="1333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232172" y="1752600"/>
                <a:ext cx="91678" cy="91678"/>
              </a:xfrm>
              <a:custGeom>
                <a:avLst/>
                <a:gdLst/>
                <a:ahLst/>
                <a:cxnLst/>
                <a:rect l="l" t="t" r="r" b="b"/>
                <a:pathLst>
                  <a:path w="91678" h="91678">
                    <a:moveTo>
                      <a:pt x="17088" y="12798"/>
                    </a:moveTo>
                    <a:cubicBezTo>
                      <a:pt x="25282" y="4603"/>
                      <a:pt x="36396" y="0"/>
                      <a:pt x="47984" y="0"/>
                    </a:cubicBezTo>
                    <a:cubicBezTo>
                      <a:pt x="72116" y="0"/>
                      <a:pt x="91678" y="19563"/>
                      <a:pt x="91678" y="43694"/>
                    </a:cubicBezTo>
                    <a:cubicBezTo>
                      <a:pt x="91678" y="55283"/>
                      <a:pt x="87075" y="66396"/>
                      <a:pt x="78881" y="74591"/>
                    </a:cubicBezTo>
                    <a:lnTo>
                      <a:pt x="61793" y="91678"/>
                    </a:lnTo>
                    <a:lnTo>
                      <a:pt x="50006" y="79892"/>
                    </a:lnTo>
                    <a:lnTo>
                      <a:pt x="67094" y="62804"/>
                    </a:lnTo>
                    <a:cubicBezTo>
                      <a:pt x="72162" y="57736"/>
                      <a:pt x="75009" y="50862"/>
                      <a:pt x="75009" y="43694"/>
                    </a:cubicBezTo>
                    <a:cubicBezTo>
                      <a:pt x="75009" y="28768"/>
                      <a:pt x="62910" y="16669"/>
                      <a:pt x="47984" y="16669"/>
                    </a:cubicBezTo>
                    <a:cubicBezTo>
                      <a:pt x="40816" y="16669"/>
                      <a:pt x="33942" y="19516"/>
                      <a:pt x="28874" y="24584"/>
                    </a:cubicBezTo>
                    <a:lnTo>
                      <a:pt x="11787" y="41672"/>
                    </a:lnTo>
                    <a:lnTo>
                      <a:pt x="0" y="29885"/>
                    </a:lnTo>
                    <a:lnTo>
                      <a:pt x="17088" y="12798"/>
                    </a:lnTo>
                    <a:close/>
                  </a:path>
                </a:pathLst>
              </a:custGeom>
              <a:solidFill>
                <a:srgbClr val="085041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90500" y="1794272"/>
                <a:ext cx="91678" cy="91678"/>
              </a:xfrm>
              <a:custGeom>
                <a:avLst/>
                <a:gdLst/>
                <a:ahLst/>
                <a:cxnLst/>
                <a:rect l="l" t="t" r="r" b="b"/>
                <a:pathLst>
                  <a:path w="91678" h="91678">
                    <a:moveTo>
                      <a:pt x="62804" y="67094"/>
                    </a:moveTo>
                    <a:lnTo>
                      <a:pt x="79892" y="50006"/>
                    </a:lnTo>
                    <a:lnTo>
                      <a:pt x="91678" y="61793"/>
                    </a:lnTo>
                    <a:lnTo>
                      <a:pt x="74591" y="78881"/>
                    </a:lnTo>
                    <a:cubicBezTo>
                      <a:pt x="66396" y="87075"/>
                      <a:pt x="55283" y="91678"/>
                      <a:pt x="43694" y="91678"/>
                    </a:cubicBezTo>
                    <a:cubicBezTo>
                      <a:pt x="19563" y="91678"/>
                      <a:pt x="0" y="72116"/>
                      <a:pt x="0" y="47984"/>
                    </a:cubicBezTo>
                    <a:cubicBezTo>
                      <a:pt x="0" y="36396"/>
                      <a:pt x="4603" y="25282"/>
                      <a:pt x="12798" y="17088"/>
                    </a:cubicBezTo>
                    <a:lnTo>
                      <a:pt x="29885" y="0"/>
                    </a:lnTo>
                    <a:lnTo>
                      <a:pt x="41672" y="11787"/>
                    </a:lnTo>
                    <a:lnTo>
                      <a:pt x="24584" y="28874"/>
                    </a:lnTo>
                    <a:cubicBezTo>
                      <a:pt x="19516" y="33942"/>
                      <a:pt x="16669" y="40816"/>
                      <a:pt x="16669" y="47984"/>
                    </a:cubicBezTo>
                    <a:cubicBezTo>
                      <a:pt x="16669" y="62910"/>
                      <a:pt x="28768" y="75009"/>
                      <a:pt x="43694" y="75009"/>
                    </a:cubicBezTo>
                    <a:cubicBezTo>
                      <a:pt x="50862" y="75009"/>
                      <a:pt x="57736" y="72162"/>
                      <a:pt x="62804" y="67094"/>
                    </a:cubicBezTo>
                    <a:close/>
                  </a:path>
                </a:pathLst>
              </a:custGeom>
              <a:solidFill>
                <a:srgbClr val="085041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226279" y="1788379"/>
                <a:ext cx="61793" cy="61793"/>
              </a:xfrm>
              <a:custGeom>
                <a:avLst/>
                <a:gdLst/>
                <a:ahLst/>
                <a:cxnLst/>
                <a:rect l="l" t="t" r="r" b="b"/>
                <a:pathLst>
                  <a:path w="61793" h="61793">
                    <a:moveTo>
                      <a:pt x="11787" y="61793"/>
                    </a:moveTo>
                    <a:lnTo>
                      <a:pt x="61793" y="11787"/>
                    </a:lnTo>
                    <a:lnTo>
                      <a:pt x="50006" y="0"/>
                    </a:lnTo>
                    <a:lnTo>
                      <a:pt x="0" y="50006"/>
                    </a:lnTo>
                    <a:lnTo>
                      <a:pt x="11787" y="61793"/>
                    </a:lnTo>
                    <a:close/>
                  </a:path>
                </a:pathLst>
              </a:custGeom>
              <a:solidFill>
                <a:srgbClr val="085041"/>
              </a:solidFill>
              <a:ln>
                <a:noFill/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381000" y="1885950"/>
              <a:ext cx="2286000" cy="381000"/>
              <a:chOff x="381000" y="1885950"/>
              <a:chExt cx="2286000" cy="3810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381000" y="1885950"/>
                <a:ext cx="2286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1F5EE"/>
              </a:solidFill>
              <a:ln w="9525">
                <a:solidFill>
                  <a:srgbClr val="5DCAA5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11492" y="195214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85041"/>
                    </a:solidFill>
                    <a:latin typeface="Arial"/>
                    <a:ea typeface="Microsoft YaHei"/>
                    <a:cs typeface="Arial"/>
                  </a:rPr>
                  <a:t>CT → Agent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14350" y="2109788"/>
                <a:ext cx="145422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085041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Task Dispatch · Webhook push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2724150" y="1885950"/>
              <a:ext cx="2286000" cy="381000"/>
              <a:chOff x="2724150" y="1885950"/>
              <a:chExt cx="2286000" cy="3810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2724150" y="1885950"/>
                <a:ext cx="2286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1F5EE"/>
              </a:solidFill>
              <a:ln w="9525">
                <a:solidFill>
                  <a:srgbClr val="5DCAA5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2854642" y="195214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85041"/>
                    </a:solidFill>
                    <a:latin typeface="Arial"/>
                    <a:ea typeface="Microsoft YaHei"/>
                    <a:cs typeface="Arial"/>
                  </a:rPr>
                  <a:t>Agent → CT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2857500" y="2109788"/>
                <a:ext cx="140922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085041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/result · /query · /escalate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067300" y="1885950"/>
              <a:ext cx="2286000" cy="381000"/>
              <a:chOff x="5067300" y="1885950"/>
              <a:chExt cx="2286000" cy="3810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5067300" y="1885950"/>
                <a:ext cx="2286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1F5EE"/>
              </a:solidFill>
              <a:ln w="9525">
                <a:solidFill>
                  <a:srgbClr val="5DCAA5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5197792" y="1952149"/>
                <a:ext cx="6186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85041"/>
                    </a:solidFill>
                    <a:latin typeface="Arial"/>
                    <a:ea typeface="Microsoft YaHei"/>
                    <a:cs typeface="Arial"/>
                  </a:rPr>
                  <a:t>JWT Auth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200650" y="2109788"/>
                <a:ext cx="127420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085041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Bearer Token · scope 鉴权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7410450" y="1885950"/>
              <a:ext cx="2400300" cy="381000"/>
              <a:chOff x="7410450" y="1885950"/>
              <a:chExt cx="2400300" cy="3810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7410450" y="1885950"/>
                <a:ext cx="24003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1F5EE"/>
              </a:solidFill>
              <a:ln w="9525">
                <a:solidFill>
                  <a:srgbClr val="5DCAA5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540942" y="1952149"/>
                <a:ext cx="74148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85041"/>
                    </a:solidFill>
                    <a:latin typeface="Arial"/>
                    <a:ea typeface="Microsoft YaHei"/>
                    <a:cs typeface="Arial"/>
                  </a:rPr>
                  <a:t>Agent Card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543800" y="2109788"/>
                <a:ext cx="124920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085041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能力 · 数据权限 · 心跳声明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5047738" y="2352199"/>
            <a:ext cx="96274" cy="198120"/>
            <a:chOff x="5047738" y="2352199"/>
            <a:chExt cx="96274" cy="198120"/>
          </a:xfrm>
        </p:grpSpPr>
        <p:sp>
          <p:nvSpPr>
            <p:cNvPr id="57" name="TextBox 57"/>
            <p:cNvSpPr txBox="1"/>
            <p:nvPr/>
          </p:nvSpPr>
          <p:spPr>
            <a:xfrm>
              <a:off x="5047738" y="2352199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↕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207169" y="2605088"/>
            <a:ext cx="9603581" cy="576262"/>
            <a:chOff x="207169" y="2605088"/>
            <a:chExt cx="9603581" cy="576262"/>
          </a:xfrm>
        </p:grpSpPr>
        <p:sp>
          <p:nvSpPr>
            <p:cNvPr id="59" name="TextBox 59"/>
            <p:cNvSpPr txBox="1"/>
            <p:nvPr/>
          </p:nvSpPr>
          <p:spPr>
            <a:xfrm>
              <a:off x="371475" y="2605088"/>
              <a:ext cx="1216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L3 · Control Tower 核心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207169" y="2628900"/>
              <a:ext cx="100012" cy="133350"/>
            </a:xfrm>
            <a:custGeom>
              <a:avLst/>
              <a:gdLst/>
              <a:ahLst/>
              <a:cxnLst/>
              <a:rect l="l" t="t" r="r" b="b"/>
              <a:pathLst>
                <a:path w="100012" h="133350">
                  <a:moveTo>
                    <a:pt x="100012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33338" y="133350"/>
                  </a:lnTo>
                  <a:lnTo>
                    <a:pt x="33338" y="100012"/>
                  </a:lnTo>
                  <a:lnTo>
                    <a:pt x="66675" y="100012"/>
                  </a:lnTo>
                  <a:lnTo>
                    <a:pt x="66675" y="133350"/>
                  </a:lnTo>
                  <a:lnTo>
                    <a:pt x="100012" y="133350"/>
                  </a:lnTo>
                  <a:lnTo>
                    <a:pt x="100012" y="0"/>
                  </a:lnTo>
                  <a:close/>
                  <a:moveTo>
                    <a:pt x="25003" y="25003"/>
                  </a:moveTo>
                  <a:lnTo>
                    <a:pt x="41672" y="25003"/>
                  </a:lnTo>
                  <a:lnTo>
                    <a:pt x="41672" y="41672"/>
                  </a:lnTo>
                  <a:lnTo>
                    <a:pt x="25003" y="41672"/>
                  </a:lnTo>
                  <a:lnTo>
                    <a:pt x="25003" y="25003"/>
                  </a:lnTo>
                  <a:close/>
                  <a:moveTo>
                    <a:pt x="41672" y="58341"/>
                  </a:moveTo>
                  <a:lnTo>
                    <a:pt x="25003" y="58341"/>
                  </a:lnTo>
                  <a:lnTo>
                    <a:pt x="25003" y="75009"/>
                  </a:lnTo>
                  <a:lnTo>
                    <a:pt x="41672" y="75009"/>
                  </a:lnTo>
                  <a:lnTo>
                    <a:pt x="41672" y="58341"/>
                  </a:lnTo>
                  <a:close/>
                  <a:moveTo>
                    <a:pt x="58341" y="25003"/>
                  </a:moveTo>
                  <a:lnTo>
                    <a:pt x="75009" y="25003"/>
                  </a:lnTo>
                  <a:lnTo>
                    <a:pt x="75009" y="41672"/>
                  </a:lnTo>
                  <a:lnTo>
                    <a:pt x="58341" y="41672"/>
                  </a:lnTo>
                  <a:lnTo>
                    <a:pt x="58341" y="25003"/>
                  </a:lnTo>
                  <a:close/>
                  <a:moveTo>
                    <a:pt x="75009" y="58341"/>
                  </a:moveTo>
                  <a:lnTo>
                    <a:pt x="58341" y="58341"/>
                  </a:lnTo>
                  <a:lnTo>
                    <a:pt x="58341" y="75009"/>
                  </a:lnTo>
                  <a:lnTo>
                    <a:pt x="75009" y="75009"/>
                  </a:lnTo>
                  <a:lnTo>
                    <a:pt x="75009" y="58341"/>
                  </a:lnTo>
                  <a:close/>
                </a:path>
              </a:pathLst>
            </a:custGeom>
            <a:solidFill>
              <a:srgbClr val="3C3489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381000" y="2762250"/>
              <a:ext cx="1847850" cy="419100"/>
              <a:chOff x="381000" y="2762250"/>
              <a:chExt cx="1847850" cy="4191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381000" y="2762250"/>
                <a:ext cx="184785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EEDFE"/>
              </a:solidFill>
              <a:ln w="9525">
                <a:solidFill>
                  <a:srgbClr val="AFA9EC"/>
                </a:solidFill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511492" y="2828449"/>
                <a:ext cx="864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3C3489"/>
                    </a:solidFill>
                    <a:latin typeface="Arial"/>
                    <a:ea typeface="Microsoft YaHei"/>
                    <a:cs typeface="Arial"/>
                  </a:rPr>
                  <a:t>Policy Engine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514350" y="2986088"/>
                <a:ext cx="110918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C3489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异常 → Agent 路由 YAML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2286000" y="2762250"/>
              <a:ext cx="1847850" cy="419100"/>
              <a:chOff x="2286000" y="2762250"/>
              <a:chExt cx="1847850" cy="419100"/>
            </a:xfrm>
          </p:grpSpPr>
          <p:sp>
            <p:nvSpPr>
              <p:cNvPr id="65" name="Rectangle 65"/>
              <p:cNvSpPr/>
              <p:nvPr/>
            </p:nvSpPr>
            <p:spPr>
              <a:xfrm>
                <a:off x="2286000" y="2762250"/>
                <a:ext cx="184785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EEDFE"/>
              </a:solidFill>
              <a:ln w="9525">
                <a:solidFill>
                  <a:srgbClr val="AFA9EC"/>
                </a:solidFill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2416492" y="2828449"/>
                <a:ext cx="100768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3C3489"/>
                    </a:solidFill>
                    <a:latin typeface="Arial"/>
                    <a:ea typeface="Microsoft YaHei"/>
                    <a:cs typeface="Arial"/>
                  </a:rPr>
                  <a:t>Agent Registry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2419350" y="2986088"/>
                <a:ext cx="104417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C3489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心跳 · 版本 · ACL 管理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4191000" y="2762250"/>
              <a:ext cx="1847850" cy="419100"/>
              <a:chOff x="4191000" y="2762250"/>
              <a:chExt cx="1847850" cy="41910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4191000" y="2762250"/>
                <a:ext cx="184785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EEDFE"/>
              </a:solidFill>
              <a:ln w="9525">
                <a:solidFill>
                  <a:srgbClr val="AFA9EC"/>
                </a:solidFill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4321492" y="2828449"/>
                <a:ext cx="12943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3C3489"/>
                    </a:solidFill>
                    <a:latin typeface="Arial"/>
                    <a:ea typeface="Microsoft YaHei"/>
                    <a:cs typeface="Arial"/>
                  </a:rPr>
                  <a:t>Task Orchestrator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4324350" y="2986088"/>
                <a:ext cx="116919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C3489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SAGA · 状态机 · 重试超时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6096000" y="2762250"/>
              <a:ext cx="1847850" cy="419100"/>
              <a:chOff x="6096000" y="2762250"/>
              <a:chExt cx="1847850" cy="4191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6096000" y="2762250"/>
                <a:ext cx="184785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EEDFE"/>
              </a:solidFill>
              <a:ln w="9525">
                <a:solidFill>
                  <a:srgbClr val="AFA9EC"/>
                </a:solidFill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6226492" y="2828449"/>
                <a:ext cx="8165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3C3489"/>
                    </a:solidFill>
                    <a:latin typeface="Arial"/>
                    <a:ea typeface="Microsoft YaHei"/>
                    <a:cs typeface="Arial"/>
                  </a:rPr>
                  <a:t>Data Broker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6229350" y="2986088"/>
                <a:ext cx="92916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C3489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查询代理 · ACL 过滤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8001000" y="2762250"/>
              <a:ext cx="1809750" cy="419100"/>
              <a:chOff x="8001000" y="2762250"/>
              <a:chExt cx="1809750" cy="419100"/>
            </a:xfrm>
          </p:grpSpPr>
          <p:sp>
            <p:nvSpPr>
              <p:cNvPr id="77" name="Rectangle 77"/>
              <p:cNvSpPr/>
              <p:nvPr/>
            </p:nvSpPr>
            <p:spPr>
              <a:xfrm>
                <a:off x="8001000" y="2762250"/>
                <a:ext cx="180975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EEDFE"/>
              </a:solidFill>
              <a:ln w="9525">
                <a:solidFill>
                  <a:srgbClr val="AFA9EC"/>
                </a:solidFill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8131492" y="2828449"/>
                <a:ext cx="1000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3C3489"/>
                    </a:solidFill>
                    <a:latin typeface="Arial"/>
                    <a:ea typeface="Microsoft YaHei"/>
                    <a:cs typeface="Arial"/>
                  </a:rPr>
                  <a:t>Escalation Mgr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134350" y="2986088"/>
                <a:ext cx="98917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3C3489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置信/风险 · 人工审批</a:t>
                </a:r>
              </a:p>
            </p:txBody>
          </p:sp>
        </p:grpSp>
      </p:grpSp>
      <p:grpSp>
        <p:nvGrpSpPr>
          <p:cNvPr id="84" name="Group 84"/>
          <p:cNvGrpSpPr/>
          <p:nvPr/>
        </p:nvGrpSpPr>
        <p:grpSpPr>
          <a:xfrm>
            <a:off x="5047738" y="3304699"/>
            <a:ext cx="701766" cy="198120"/>
            <a:chOff x="5047738" y="3304699"/>
            <a:chExt cx="701766" cy="198120"/>
          </a:xfrm>
        </p:grpSpPr>
        <p:sp>
          <p:nvSpPr>
            <p:cNvPr id="82" name="TextBox 82"/>
            <p:cNvSpPr txBox="1"/>
            <p:nvPr/>
          </p:nvSpPr>
          <p:spPr>
            <a:xfrm>
              <a:off x="5047738" y="3304699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↑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277802" y="3337084"/>
              <a:ext cx="47170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消费 Event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90500" y="3557588"/>
            <a:ext cx="9620250" cy="576262"/>
            <a:chOff x="190500" y="3557588"/>
            <a:chExt cx="9620250" cy="576262"/>
          </a:xfrm>
        </p:grpSpPr>
        <p:sp>
          <p:nvSpPr>
            <p:cNvPr id="85" name="TextBox 85"/>
            <p:cNvSpPr txBox="1"/>
            <p:nvPr/>
          </p:nvSpPr>
          <p:spPr>
            <a:xfrm>
              <a:off x="371475" y="3557588"/>
              <a:ext cx="78039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L2 · 事件总线层</a:t>
              </a:r>
            </a:p>
          </p:txBody>
        </p:sp>
        <p:sp>
          <p:nvSpPr>
            <p:cNvPr id="86" name="Freeform 86"/>
            <p:cNvSpPr/>
            <p:nvPr/>
          </p:nvSpPr>
          <p:spPr>
            <a:xfrm>
              <a:off x="190500" y="35814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133350" y="66675"/>
                  </a:moveTo>
                  <a:cubicBezTo>
                    <a:pt x="133350" y="29851"/>
                    <a:pt x="103499" y="0"/>
                    <a:pt x="66675" y="0"/>
                  </a:cubicBezTo>
                  <a:cubicBezTo>
                    <a:pt x="29851" y="0"/>
                    <a:pt x="0" y="29851"/>
                    <a:pt x="0" y="66675"/>
                  </a:cubicBezTo>
                  <a:cubicBezTo>
                    <a:pt x="0" y="103499"/>
                    <a:pt x="29851" y="133350"/>
                    <a:pt x="66675" y="133350"/>
                  </a:cubicBezTo>
                  <a:cubicBezTo>
                    <a:pt x="103499" y="133350"/>
                    <a:pt x="133350" y="103499"/>
                    <a:pt x="133350" y="66675"/>
                  </a:cubicBezTo>
                  <a:close/>
                  <a:moveTo>
                    <a:pt x="66675" y="33338"/>
                  </a:moveTo>
                  <a:lnTo>
                    <a:pt x="66675" y="58341"/>
                  </a:lnTo>
                  <a:lnTo>
                    <a:pt x="25003" y="58341"/>
                  </a:lnTo>
                  <a:lnTo>
                    <a:pt x="25003" y="75009"/>
                  </a:lnTo>
                  <a:lnTo>
                    <a:pt x="66675" y="75009"/>
                  </a:lnTo>
                  <a:lnTo>
                    <a:pt x="66675" y="100013"/>
                  </a:lnTo>
                  <a:lnTo>
                    <a:pt x="75009" y="100013"/>
                  </a:lnTo>
                  <a:lnTo>
                    <a:pt x="108347" y="66675"/>
                  </a:lnTo>
                  <a:lnTo>
                    <a:pt x="75009" y="33338"/>
                  </a:lnTo>
                  <a:lnTo>
                    <a:pt x="66675" y="33338"/>
                  </a:lnTo>
                  <a:close/>
                </a:path>
              </a:pathLst>
            </a:custGeom>
            <a:solidFill>
              <a:srgbClr val="085041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381000" y="3714750"/>
              <a:ext cx="5143500" cy="419100"/>
              <a:chOff x="381000" y="3714750"/>
              <a:chExt cx="5143500" cy="419100"/>
            </a:xfrm>
          </p:grpSpPr>
          <p:sp>
            <p:nvSpPr>
              <p:cNvPr id="87" name="Rectangle 87"/>
              <p:cNvSpPr/>
              <p:nvPr/>
            </p:nvSpPr>
            <p:spPr>
              <a:xfrm>
                <a:off x="381000" y="3714750"/>
                <a:ext cx="5143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1F5EE"/>
              </a:solidFill>
              <a:ln w="9525">
                <a:solidFill>
                  <a:srgbClr val="5DCAA5"/>
                </a:solidFill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511492" y="3780949"/>
                <a:ext cx="64591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85041"/>
                    </a:solidFill>
                    <a:latin typeface="Arial"/>
                    <a:ea typeface="Microsoft YaHei"/>
                    <a:cs typeface="Arial"/>
                  </a:rPr>
                  <a:t>RabbitMQ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514350" y="3938588"/>
                <a:ext cx="222932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085041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Consumer Group · 持久化 · 顺序保证 · 背压控制</a:t>
                </a: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5581650" y="3714750"/>
              <a:ext cx="2286000" cy="419100"/>
              <a:chOff x="5581650" y="3714750"/>
              <a:chExt cx="2286000" cy="419100"/>
            </a:xfrm>
          </p:grpSpPr>
          <p:sp>
            <p:nvSpPr>
              <p:cNvPr id="91" name="Rectangle 91"/>
              <p:cNvSpPr/>
              <p:nvPr/>
            </p:nvSpPr>
            <p:spPr>
              <a:xfrm>
                <a:off x="5581650" y="3714750"/>
                <a:ext cx="22860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1F5EE"/>
              </a:solidFill>
              <a:ln w="9525">
                <a:solidFill>
                  <a:srgbClr val="5DCAA5"/>
                </a:solidFill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5712142" y="3780949"/>
                <a:ext cx="11510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85041"/>
                    </a:solidFill>
                    <a:latin typeface="Arial"/>
                    <a:ea typeface="Microsoft YaHei"/>
                    <a:cs typeface="Arial"/>
                  </a:rPr>
                  <a:t>主队列 ct.events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5715000" y="3938588"/>
                <a:ext cx="10541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085041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每个 Event 仅消费一次</a:t>
                </a: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7924800" y="3714750"/>
              <a:ext cx="1885950" cy="419100"/>
              <a:chOff x="7924800" y="3714750"/>
              <a:chExt cx="1885950" cy="419100"/>
            </a:xfrm>
          </p:grpSpPr>
          <p:sp>
            <p:nvSpPr>
              <p:cNvPr id="95" name="Rectangle 95"/>
              <p:cNvSpPr/>
              <p:nvPr/>
            </p:nvSpPr>
            <p:spPr>
              <a:xfrm>
                <a:off x="7924800" y="3714750"/>
                <a:ext cx="188595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 w="14288">
                <a:solidFill>
                  <a:srgbClr val="C2410C"/>
                </a:solidFill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8055292" y="3780949"/>
                <a:ext cx="9803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2410C"/>
                    </a:solidFill>
                    <a:latin typeface="Arial"/>
                    <a:ea typeface="Microsoft YaHei"/>
                    <a:cs typeface="Arial"/>
                  </a:rPr>
                  <a:t>DLQ · 死信队列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8058150" y="3938588"/>
                <a:ext cx="91916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C2410C">
                        <a:alphaMod val="85000"/>
                      </a:srgbClr>
                    </a:solidFill>
                    <a:latin typeface="Arial"/>
                    <a:ea typeface="Microsoft YaHei"/>
                    <a:cs typeface="Arial"/>
                  </a:rPr>
                  <a:t>3 次失败 → 隔离重试</a:t>
                </a:r>
              </a:p>
            </p:txBody>
          </p:sp>
        </p:grpSp>
      </p:grpSp>
      <p:grpSp>
        <p:nvGrpSpPr>
          <p:cNvPr id="102" name="Group 102"/>
          <p:cNvGrpSpPr/>
          <p:nvPr/>
        </p:nvGrpSpPr>
        <p:grpSpPr>
          <a:xfrm>
            <a:off x="5047738" y="4257199"/>
            <a:ext cx="2114942" cy="198120"/>
            <a:chOff x="5047738" y="4257199"/>
            <a:chExt cx="2114942" cy="198120"/>
          </a:xfrm>
        </p:grpSpPr>
        <p:sp>
          <p:nvSpPr>
            <p:cNvPr id="100" name="TextBox 100"/>
            <p:cNvSpPr txBox="1"/>
            <p:nvPr/>
          </p:nvSpPr>
          <p:spPr>
            <a:xfrm>
              <a:off x="5047738" y="4257199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↑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277802" y="4289584"/>
              <a:ext cx="188487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发布 Event (含 trace_id + 上下文 snapshot)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90500" y="4510088"/>
            <a:ext cx="9620250" cy="576262"/>
            <a:chOff x="190500" y="4510088"/>
            <a:chExt cx="9620250" cy="576262"/>
          </a:xfrm>
        </p:grpSpPr>
        <p:sp>
          <p:nvSpPr>
            <p:cNvPr id="103" name="TextBox 103"/>
            <p:cNvSpPr txBox="1"/>
            <p:nvPr/>
          </p:nvSpPr>
          <p:spPr>
            <a:xfrm>
              <a:off x="371475" y="4510088"/>
              <a:ext cx="85915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L1 · 监控与检测层</a:t>
              </a:r>
            </a:p>
          </p:txBody>
        </p:sp>
        <p:sp>
          <p:nvSpPr>
            <p:cNvPr id="104" name="Freeform 104"/>
            <p:cNvSpPr/>
            <p:nvPr/>
          </p:nvSpPr>
          <p:spPr>
            <a:xfrm>
              <a:off x="190500" y="4550569"/>
              <a:ext cx="133350" cy="100012"/>
            </a:xfrm>
            <a:custGeom>
              <a:avLst/>
              <a:gdLst/>
              <a:ahLst/>
              <a:cxnLst/>
              <a:rect l="l" t="t" r="r" b="b"/>
              <a:pathLst>
                <a:path w="133350" h="100012">
                  <a:moveTo>
                    <a:pt x="0" y="50006"/>
                  </a:moveTo>
                  <a:lnTo>
                    <a:pt x="25665" y="19208"/>
                  </a:lnTo>
                  <a:cubicBezTo>
                    <a:pt x="35808" y="7037"/>
                    <a:pt x="50832" y="0"/>
                    <a:pt x="66675" y="0"/>
                  </a:cubicBezTo>
                  <a:cubicBezTo>
                    <a:pt x="82518" y="0"/>
                    <a:pt x="97542" y="7037"/>
                    <a:pt x="107685" y="19208"/>
                  </a:cubicBezTo>
                  <a:lnTo>
                    <a:pt x="133350" y="50006"/>
                  </a:lnTo>
                  <a:lnTo>
                    <a:pt x="107685" y="80804"/>
                  </a:lnTo>
                  <a:cubicBezTo>
                    <a:pt x="97542" y="92976"/>
                    <a:pt x="82518" y="100012"/>
                    <a:pt x="66675" y="100012"/>
                  </a:cubicBezTo>
                  <a:cubicBezTo>
                    <a:pt x="50832" y="100012"/>
                    <a:pt x="35808" y="92976"/>
                    <a:pt x="25665" y="80804"/>
                  </a:cubicBezTo>
                  <a:lnTo>
                    <a:pt x="0" y="50006"/>
                  </a:lnTo>
                  <a:close/>
                  <a:moveTo>
                    <a:pt x="66675" y="75009"/>
                  </a:moveTo>
                  <a:cubicBezTo>
                    <a:pt x="80484" y="75009"/>
                    <a:pt x="91678" y="63815"/>
                    <a:pt x="91678" y="50006"/>
                  </a:cubicBezTo>
                  <a:cubicBezTo>
                    <a:pt x="91678" y="36197"/>
                    <a:pt x="80484" y="25003"/>
                    <a:pt x="66675" y="25003"/>
                  </a:cubicBezTo>
                  <a:cubicBezTo>
                    <a:pt x="52866" y="25003"/>
                    <a:pt x="41672" y="36197"/>
                    <a:pt x="41672" y="50006"/>
                  </a:cubicBezTo>
                  <a:cubicBezTo>
                    <a:pt x="41672" y="63815"/>
                    <a:pt x="52866" y="75009"/>
                    <a:pt x="66675" y="75009"/>
                  </a:cubicBezTo>
                  <a:close/>
                </a:path>
              </a:pathLst>
            </a:custGeom>
            <a:solidFill>
              <a:srgbClr val="0C447C"/>
            </a:solidFill>
            <a:ln>
              <a:noFill/>
            </a:ln>
          </p:spPr>
        </p:sp>
        <p:grpSp>
          <p:nvGrpSpPr>
            <p:cNvPr id="108" name="Group 108"/>
            <p:cNvGrpSpPr/>
            <p:nvPr/>
          </p:nvGrpSpPr>
          <p:grpSpPr>
            <a:xfrm>
              <a:off x="381000" y="4667250"/>
              <a:ext cx="2286000" cy="419100"/>
              <a:chOff x="381000" y="4667250"/>
              <a:chExt cx="2286000" cy="419100"/>
            </a:xfrm>
          </p:grpSpPr>
          <p:sp>
            <p:nvSpPr>
              <p:cNvPr id="105" name="Rectangle 105"/>
              <p:cNvSpPr/>
              <p:nvPr/>
            </p:nvSpPr>
            <p:spPr>
              <a:xfrm>
                <a:off x="381000" y="4667250"/>
                <a:ext cx="22860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6F1FB"/>
              </a:solidFill>
              <a:ln w="9525">
                <a:solidFill>
                  <a:srgbClr val="85B7EB"/>
                </a:solidFill>
              </a:ln>
            </p:spPr>
          </p:sp>
          <p:sp>
            <p:nvSpPr>
              <p:cNvPr id="106" name="TextBox 106"/>
              <p:cNvSpPr txBox="1"/>
              <p:nvPr/>
            </p:nvSpPr>
            <p:spPr>
              <a:xfrm>
                <a:off x="511492" y="4733449"/>
                <a:ext cx="4343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C447C"/>
                    </a:solidFill>
                    <a:latin typeface="Arial"/>
                    <a:ea typeface="Microsoft YaHei"/>
                    <a:cs typeface="Arial"/>
                  </a:rPr>
                  <a:t>调度器</a:t>
                </a:r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514350" y="4891088"/>
                <a:ext cx="126420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0C447C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APScheduler · cron 表达式</a:t>
                </a: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2724150" y="4667250"/>
              <a:ext cx="2286000" cy="419100"/>
              <a:chOff x="2724150" y="4667250"/>
              <a:chExt cx="2286000" cy="419100"/>
            </a:xfrm>
          </p:grpSpPr>
          <p:sp>
            <p:nvSpPr>
              <p:cNvPr id="109" name="Rectangle 109"/>
              <p:cNvSpPr/>
              <p:nvPr/>
            </p:nvSpPr>
            <p:spPr>
              <a:xfrm>
                <a:off x="2724150" y="4667250"/>
                <a:ext cx="22860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6F1FB"/>
              </a:solidFill>
              <a:ln w="9525">
                <a:solidFill>
                  <a:srgbClr val="85B7EB"/>
                </a:solidFill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2854642" y="4733449"/>
                <a:ext cx="13421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C447C"/>
                    </a:solidFill>
                    <a:latin typeface="Arial"/>
                    <a:ea typeface="Microsoft YaHei"/>
                    <a:cs typeface="Arial"/>
                  </a:rPr>
                  <a:t>Ontology → SQL 引擎</a:t>
                </a:r>
              </a:p>
            </p:txBody>
          </p:sp>
          <p:sp>
            <p:nvSpPr>
              <p:cNvPr id="111" name="TextBox 111"/>
              <p:cNvSpPr txBox="1"/>
              <p:nvPr/>
            </p:nvSpPr>
            <p:spPr>
              <a:xfrm>
                <a:off x="2857500" y="4891088"/>
                <a:ext cx="134421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0C447C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现有 Agent 封装 /query 服务</a:t>
                </a:r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5067300" y="4667250"/>
              <a:ext cx="2286000" cy="419100"/>
              <a:chOff x="5067300" y="4667250"/>
              <a:chExt cx="2286000" cy="419100"/>
            </a:xfrm>
          </p:grpSpPr>
          <p:sp>
            <p:nvSpPr>
              <p:cNvPr id="113" name="Rectangle 113"/>
              <p:cNvSpPr/>
              <p:nvPr/>
            </p:nvSpPr>
            <p:spPr>
              <a:xfrm>
                <a:off x="5067300" y="4667250"/>
                <a:ext cx="22860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6F1FB"/>
              </a:solidFill>
              <a:ln w="9525">
                <a:solidFill>
                  <a:srgbClr val="85B7EB"/>
                </a:solidFill>
              </a:ln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5197792" y="4733449"/>
                <a:ext cx="8438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C447C"/>
                    </a:solidFill>
                    <a:latin typeface="Arial"/>
                    <a:ea typeface="Microsoft YaHei"/>
                    <a:cs typeface="Arial"/>
                  </a:rPr>
                  <a:t>异常规则引擎</a:t>
                </a:r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5200650" y="4891088"/>
                <a:ext cx="100417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0C447C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YAML 配置 · 阈值判断</a:t>
                </a:r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>
              <a:off x="7410450" y="4667250"/>
              <a:ext cx="2400300" cy="419100"/>
              <a:chOff x="7410450" y="4667250"/>
              <a:chExt cx="2400300" cy="419100"/>
            </a:xfrm>
          </p:grpSpPr>
          <p:sp>
            <p:nvSpPr>
              <p:cNvPr id="117" name="Rectangle 117"/>
              <p:cNvSpPr/>
              <p:nvPr/>
            </p:nvSpPr>
            <p:spPr>
              <a:xfrm>
                <a:off x="7410450" y="4667250"/>
                <a:ext cx="24003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6F1FB"/>
              </a:solidFill>
              <a:ln w="9525">
                <a:solidFill>
                  <a:srgbClr val="85B7EB"/>
                </a:solidFill>
              </a:ln>
            </p:spPr>
          </p:sp>
          <p:sp>
            <p:nvSpPr>
              <p:cNvPr id="118" name="TextBox 118"/>
              <p:cNvSpPr txBox="1"/>
              <p:nvPr/>
            </p:nvSpPr>
            <p:spPr>
              <a:xfrm>
                <a:off x="7540942" y="473344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C447C"/>
                    </a:solidFill>
                    <a:latin typeface="Arial"/>
                    <a:ea typeface="Microsoft YaHei"/>
                    <a:cs typeface="Arial"/>
                  </a:rPr>
                  <a:t>事件发布器</a:t>
                </a:r>
              </a:p>
            </p:txBody>
          </p:sp>
          <p:sp>
            <p:nvSpPr>
              <p:cNvPr id="119" name="TextBox 119"/>
              <p:cNvSpPr txBox="1"/>
              <p:nvPr/>
            </p:nvSpPr>
            <p:spPr>
              <a:xfrm>
                <a:off x="7543800" y="4891088"/>
                <a:ext cx="138422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0C447C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结构化 Event · 生成 trace_id</a:t>
                </a:r>
              </a:p>
            </p:txBody>
          </p:sp>
        </p:grpSp>
      </p:grpSp>
      <p:grpSp>
        <p:nvGrpSpPr>
          <p:cNvPr id="124" name="Group 124"/>
          <p:cNvGrpSpPr/>
          <p:nvPr/>
        </p:nvGrpSpPr>
        <p:grpSpPr>
          <a:xfrm>
            <a:off x="5047738" y="5209699"/>
            <a:ext cx="1250834" cy="198120"/>
            <a:chOff x="5047738" y="5209699"/>
            <a:chExt cx="1250834" cy="198120"/>
          </a:xfrm>
        </p:grpSpPr>
        <p:sp>
          <p:nvSpPr>
            <p:cNvPr id="122" name="TextBox 122"/>
            <p:cNvSpPr txBox="1"/>
            <p:nvPr/>
          </p:nvSpPr>
          <p:spPr>
            <a:xfrm>
              <a:off x="5047738" y="5209699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↑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5277802" y="5242084"/>
              <a:ext cx="102077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查询数据 · 复用基础能力</a:t>
              </a:r>
            </a:p>
          </p:txBody>
        </p:sp>
      </p:grpSp>
      <p:grpSp>
        <p:nvGrpSpPr>
          <p:cNvPr id="150" name="Group 150"/>
          <p:cNvGrpSpPr/>
          <p:nvPr/>
        </p:nvGrpSpPr>
        <p:grpSpPr>
          <a:xfrm>
            <a:off x="207169" y="5462588"/>
            <a:ext cx="9603581" cy="576262"/>
            <a:chOff x="207169" y="5462588"/>
            <a:chExt cx="9603581" cy="576262"/>
          </a:xfrm>
        </p:grpSpPr>
        <p:sp>
          <p:nvSpPr>
            <p:cNvPr id="125" name="TextBox 125"/>
            <p:cNvSpPr txBox="1"/>
            <p:nvPr/>
          </p:nvSpPr>
          <p:spPr>
            <a:xfrm>
              <a:off x="371475" y="5462588"/>
              <a:ext cx="78039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L0 · 基础设施层</a:t>
              </a:r>
            </a:p>
          </p:txBody>
        </p:sp>
        <p:grpSp>
          <p:nvGrpSpPr>
            <p:cNvPr id="129" name="Group 129"/>
            <p:cNvGrpSpPr/>
            <p:nvPr/>
          </p:nvGrpSpPr>
          <p:grpSpPr>
            <a:xfrm>
              <a:off x="207169" y="5486400"/>
              <a:ext cx="100012" cy="133350"/>
              <a:chOff x="207169" y="5486400"/>
              <a:chExt cx="100012" cy="133350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207169" y="5539740"/>
                <a:ext cx="100012" cy="38338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38338">
                    <a:moveTo>
                      <a:pt x="92821" y="4252"/>
                    </a:moveTo>
                    <a:cubicBezTo>
                      <a:pt x="95165" y="3079"/>
                      <a:pt x="97615" y="1665"/>
                      <a:pt x="100012" y="0"/>
                    </a:cubicBezTo>
                    <a:lnTo>
                      <a:pt x="100012" y="13335"/>
                    </a:lnTo>
                    <a:cubicBezTo>
                      <a:pt x="100012" y="27144"/>
                      <a:pt x="77624" y="38338"/>
                      <a:pt x="50006" y="38338"/>
                    </a:cubicBezTo>
                    <a:cubicBezTo>
                      <a:pt x="22389" y="38338"/>
                      <a:pt x="0" y="27144"/>
                      <a:pt x="0" y="13335"/>
                    </a:cubicBezTo>
                    <a:lnTo>
                      <a:pt x="0" y="0"/>
                    </a:lnTo>
                    <a:cubicBezTo>
                      <a:pt x="2398" y="1665"/>
                      <a:pt x="4847" y="3079"/>
                      <a:pt x="7192" y="4252"/>
                    </a:cubicBezTo>
                    <a:cubicBezTo>
                      <a:pt x="19010" y="10161"/>
                      <a:pt x="34171" y="13335"/>
                      <a:pt x="50006" y="13335"/>
                    </a:cubicBezTo>
                    <a:cubicBezTo>
                      <a:pt x="65842" y="13335"/>
                      <a:pt x="81002" y="10161"/>
                      <a:pt x="92821" y="4252"/>
                    </a:cubicBezTo>
                    <a:close/>
                  </a:path>
                </a:pathLst>
              </a:custGeom>
              <a:solidFill>
                <a:srgbClr val="525252"/>
              </a:solidFill>
              <a:ln>
                <a:noFill/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207169" y="5581412"/>
                <a:ext cx="100012" cy="38338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38338">
                    <a:moveTo>
                      <a:pt x="0" y="0"/>
                    </a:moveTo>
                    <a:lnTo>
                      <a:pt x="0" y="13335"/>
                    </a:lnTo>
                    <a:cubicBezTo>
                      <a:pt x="0" y="27144"/>
                      <a:pt x="22389" y="38338"/>
                      <a:pt x="50006" y="38338"/>
                    </a:cubicBezTo>
                    <a:cubicBezTo>
                      <a:pt x="77624" y="38338"/>
                      <a:pt x="100012" y="27144"/>
                      <a:pt x="100012" y="13335"/>
                    </a:cubicBezTo>
                    <a:lnTo>
                      <a:pt x="100012" y="0"/>
                    </a:lnTo>
                    <a:cubicBezTo>
                      <a:pt x="97615" y="1665"/>
                      <a:pt x="95165" y="3080"/>
                      <a:pt x="92821" y="4252"/>
                    </a:cubicBezTo>
                    <a:cubicBezTo>
                      <a:pt x="81002" y="10161"/>
                      <a:pt x="65842" y="13335"/>
                      <a:pt x="50006" y="13335"/>
                    </a:cubicBezTo>
                    <a:cubicBezTo>
                      <a:pt x="34171" y="13335"/>
                      <a:pt x="19010" y="10161"/>
                      <a:pt x="7192" y="4252"/>
                    </a:cubicBezTo>
                    <a:cubicBezTo>
                      <a:pt x="4847" y="3080"/>
                      <a:pt x="2398" y="1665"/>
                      <a:pt x="0" y="0"/>
                    </a:cubicBezTo>
                    <a:close/>
                  </a:path>
                </a:pathLst>
              </a:custGeom>
              <a:solidFill>
                <a:srgbClr val="525252"/>
              </a:solidFill>
              <a:ln>
                <a:noFill/>
              </a:ln>
            </p:spPr>
          </p:sp>
          <p:sp>
            <p:nvSpPr>
              <p:cNvPr id="128" name="Freeform 128"/>
              <p:cNvSpPr/>
              <p:nvPr/>
            </p:nvSpPr>
            <p:spPr>
              <a:xfrm>
                <a:off x="207169" y="5486400"/>
                <a:ext cx="100012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50006">
                    <a:moveTo>
                      <a:pt x="50006" y="0"/>
                    </a:moveTo>
                    <a:cubicBezTo>
                      <a:pt x="77624" y="0"/>
                      <a:pt x="100012" y="11194"/>
                      <a:pt x="100012" y="25003"/>
                    </a:cubicBezTo>
                    <a:cubicBezTo>
                      <a:pt x="100012" y="38812"/>
                      <a:pt x="77624" y="50006"/>
                      <a:pt x="50006" y="50006"/>
                    </a:cubicBezTo>
                    <a:cubicBezTo>
                      <a:pt x="22389" y="50006"/>
                      <a:pt x="0" y="38812"/>
                      <a:pt x="0" y="25003"/>
                    </a:cubicBezTo>
                    <a:cubicBezTo>
                      <a:pt x="0" y="11194"/>
                      <a:pt x="22389" y="0"/>
                      <a:pt x="50006" y="0"/>
                    </a:cubicBezTo>
                    <a:close/>
                  </a:path>
                </a:pathLst>
              </a:custGeom>
              <a:solidFill>
                <a:srgbClr val="525252"/>
              </a:solidFill>
              <a:ln>
                <a:noFill/>
              </a:ln>
            </p:spPr>
          </p:sp>
        </p:grpSp>
        <p:grpSp>
          <p:nvGrpSpPr>
            <p:cNvPr id="133" name="Group 133"/>
            <p:cNvGrpSpPr/>
            <p:nvPr/>
          </p:nvGrpSpPr>
          <p:grpSpPr>
            <a:xfrm>
              <a:off x="381000" y="5619750"/>
              <a:ext cx="1809750" cy="419100"/>
              <a:chOff x="381000" y="5619750"/>
              <a:chExt cx="1809750" cy="419100"/>
            </a:xfrm>
          </p:grpSpPr>
          <p:sp>
            <p:nvSpPr>
              <p:cNvPr id="130" name="Rectangle 130"/>
              <p:cNvSpPr/>
              <p:nvPr/>
            </p:nvSpPr>
            <p:spPr>
              <a:xfrm>
                <a:off x="381000" y="5619750"/>
                <a:ext cx="180975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5F5F5"/>
              </a:solidFill>
              <a:ln w="9525">
                <a:solidFill>
                  <a:srgbClr val="D4D4D4"/>
                </a:solidFill>
              </a:ln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511492" y="5685949"/>
                <a:ext cx="4343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525252"/>
                    </a:solidFill>
                    <a:latin typeface="Arial"/>
                    <a:ea typeface="Microsoft YaHei"/>
                    <a:cs typeface="Arial"/>
                  </a:rPr>
                  <a:t>数据库</a:t>
                </a:r>
              </a:p>
            </p:txBody>
          </p:sp>
          <p:sp>
            <p:nvSpPr>
              <p:cNvPr id="132" name="TextBox 132"/>
              <p:cNvSpPr txBox="1"/>
              <p:nvPr/>
            </p:nvSpPr>
            <p:spPr>
              <a:xfrm>
                <a:off x="514350" y="5843588"/>
                <a:ext cx="110418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525252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PostgreSQL · 各业务库</a:t>
                </a:r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>
              <a:off x="2247900" y="5619750"/>
              <a:ext cx="1809750" cy="419100"/>
              <a:chOff x="2247900" y="5619750"/>
              <a:chExt cx="1809750" cy="419100"/>
            </a:xfrm>
          </p:grpSpPr>
          <p:sp>
            <p:nvSpPr>
              <p:cNvPr id="134" name="Rectangle 134"/>
              <p:cNvSpPr/>
              <p:nvPr/>
            </p:nvSpPr>
            <p:spPr>
              <a:xfrm>
                <a:off x="2247900" y="5619750"/>
                <a:ext cx="180975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5F5F5"/>
              </a:solidFill>
              <a:ln w="9525">
                <a:solidFill>
                  <a:srgbClr val="D4D4D4"/>
                </a:solidFill>
              </a:ln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2378392" y="568594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525252"/>
                    </a:solidFill>
                    <a:latin typeface="Arial"/>
                    <a:ea typeface="Microsoft YaHei"/>
                    <a:cs typeface="Arial"/>
                  </a:rPr>
                  <a:t>计算环境</a:t>
                </a:r>
              </a:p>
            </p:txBody>
          </p:sp>
          <p:sp>
            <p:nvSpPr>
              <p:cNvPr id="136" name="TextBox 136"/>
              <p:cNvSpPr txBox="1"/>
              <p:nvPr/>
            </p:nvSpPr>
            <p:spPr>
              <a:xfrm>
                <a:off x="2381250" y="5843588"/>
                <a:ext cx="83415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525252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容器化 · 进程托管</a:t>
                </a:r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>
              <a:off x="4114800" y="5619750"/>
              <a:ext cx="1809750" cy="419100"/>
              <a:chOff x="4114800" y="5619750"/>
              <a:chExt cx="1809750" cy="419100"/>
            </a:xfrm>
          </p:grpSpPr>
          <p:sp>
            <p:nvSpPr>
              <p:cNvPr id="138" name="Rectangle 138"/>
              <p:cNvSpPr/>
              <p:nvPr/>
            </p:nvSpPr>
            <p:spPr>
              <a:xfrm>
                <a:off x="4114800" y="5619750"/>
                <a:ext cx="180975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5F5F5"/>
              </a:solidFill>
              <a:ln w="9525">
                <a:solidFill>
                  <a:srgbClr val="D4D4D4"/>
                </a:solidFill>
              </a:ln>
            </p:spPr>
          </p:sp>
          <p:sp>
            <p:nvSpPr>
              <p:cNvPr id="139" name="TextBox 139"/>
              <p:cNvSpPr txBox="1"/>
              <p:nvPr/>
            </p:nvSpPr>
            <p:spPr>
              <a:xfrm>
                <a:off x="4245292" y="5685949"/>
                <a:ext cx="1000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525252"/>
                    </a:solidFill>
                    <a:latin typeface="Arial"/>
                    <a:ea typeface="Microsoft YaHei"/>
                    <a:cs typeface="Arial"/>
                  </a:rPr>
                  <a:t>缓存 / 对象存储</a:t>
                </a:r>
              </a:p>
            </p:txBody>
          </p:sp>
          <p:sp>
            <p:nvSpPr>
              <p:cNvPr id="140" name="TextBox 140"/>
              <p:cNvSpPr txBox="1"/>
              <p:nvPr/>
            </p:nvSpPr>
            <p:spPr>
              <a:xfrm>
                <a:off x="4248150" y="5843588"/>
                <a:ext cx="106918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525252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Redis · S3-compatible</a:t>
                </a: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5981700" y="5619750"/>
              <a:ext cx="1809750" cy="419100"/>
              <a:chOff x="5981700" y="5619750"/>
              <a:chExt cx="1809750" cy="419100"/>
            </a:xfrm>
          </p:grpSpPr>
          <p:sp>
            <p:nvSpPr>
              <p:cNvPr id="142" name="Rectangle 142"/>
              <p:cNvSpPr/>
              <p:nvPr/>
            </p:nvSpPr>
            <p:spPr>
              <a:xfrm>
                <a:off x="5981700" y="5619750"/>
                <a:ext cx="180975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5F5F5"/>
              </a:solidFill>
              <a:ln w="9525">
                <a:solidFill>
                  <a:srgbClr val="D4D4D4"/>
                </a:solidFill>
              </a:ln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6112192" y="568594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525252"/>
                    </a:solidFill>
                    <a:latin typeface="Arial"/>
                    <a:ea typeface="Microsoft YaHei"/>
                    <a:cs typeface="Arial"/>
                  </a:rPr>
                  <a:t>配置中心</a:t>
                </a:r>
              </a:p>
            </p:txBody>
          </p:sp>
          <p:sp>
            <p:nvSpPr>
              <p:cNvPr id="144" name="TextBox 144"/>
              <p:cNvSpPr txBox="1"/>
              <p:nvPr/>
            </p:nvSpPr>
            <p:spPr>
              <a:xfrm>
                <a:off x="6115050" y="5843588"/>
                <a:ext cx="89916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525252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policy.yaml 热加载</a:t>
                </a:r>
              </a:p>
            </p:txBody>
          </p:sp>
        </p:grpSp>
        <p:grpSp>
          <p:nvGrpSpPr>
            <p:cNvPr id="149" name="Group 149"/>
            <p:cNvGrpSpPr/>
            <p:nvPr/>
          </p:nvGrpSpPr>
          <p:grpSpPr>
            <a:xfrm>
              <a:off x="7848600" y="5619750"/>
              <a:ext cx="1962150" cy="419100"/>
              <a:chOff x="7848600" y="5619750"/>
              <a:chExt cx="1962150" cy="419100"/>
            </a:xfrm>
          </p:grpSpPr>
          <p:sp>
            <p:nvSpPr>
              <p:cNvPr id="146" name="Rectangle 146"/>
              <p:cNvSpPr/>
              <p:nvPr/>
            </p:nvSpPr>
            <p:spPr>
              <a:xfrm>
                <a:off x="7848600" y="5619750"/>
                <a:ext cx="196215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5F5F5"/>
              </a:solidFill>
              <a:ln w="9525">
                <a:solidFill>
                  <a:srgbClr val="D4D4D4"/>
                </a:solidFill>
              </a:ln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7979092" y="568594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525252"/>
                    </a:solidFill>
                    <a:latin typeface="Arial"/>
                    <a:ea typeface="Microsoft YaHei"/>
                    <a:cs typeface="Arial"/>
                  </a:rPr>
                  <a:t>消息中间件</a:t>
                </a: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7981950" y="5843588"/>
                <a:ext cx="106418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525252">
                        <a:alphaMod val="78000"/>
                      </a:srgbClr>
                    </a:solidFill>
                    <a:latin typeface="Arial"/>
                    <a:ea typeface="Microsoft YaHei"/>
                    <a:cs typeface="Arial"/>
                  </a:rPr>
                  <a:t>RabbitMQ broker 实例</a:t>
                </a:r>
              </a:p>
            </p:txBody>
          </p:sp>
        </p:grpSp>
      </p:grpSp>
      <p:grpSp>
        <p:nvGrpSpPr>
          <p:cNvPr id="152" name="Group 152"/>
          <p:cNvGrpSpPr/>
          <p:nvPr/>
        </p:nvGrpSpPr>
        <p:grpSpPr>
          <a:xfrm>
            <a:off x="10039350" y="762000"/>
            <a:ext cx="9525" cy="5524500"/>
            <a:chOff x="10039350" y="762000"/>
            <a:chExt cx="9525" cy="5524500"/>
          </a:xfrm>
        </p:grpSpPr>
        <p:sp>
          <p:nvSpPr>
            <p:cNvPr id="151" name="Line 151"/>
            <p:cNvSpPr/>
            <p:nvPr/>
          </p:nvSpPr>
          <p:spPr>
            <a:xfrm>
              <a:off x="10039350" y="762000"/>
              <a:ext cx="9525" cy="5524500"/>
            </a:xfrm>
            <a:custGeom>
              <a:avLst/>
              <a:gdLst/>
              <a:ahLst/>
              <a:cxnLst/>
              <a:rect l="l" t="t" r="r" b="b"/>
              <a:pathLst>
                <a:path w="9525" h="5524500">
                  <a:moveTo>
                    <a:pt x="0" y="0"/>
                  </a:moveTo>
                  <a:lnTo>
                    <a:pt x="0" y="5524500"/>
                  </a:lnTo>
                </a:path>
              </a:pathLst>
            </a:custGeom>
            <a:noFill/>
            <a:ln w="9525">
              <a:solidFill>
                <a:srgbClr val="E5E7EB"/>
              </a:solidFill>
              <a:custDash>
                <a:ds d="200000" sp="300000"/>
              </a:custDash>
            </a:ln>
          </p:spPr>
        </p:sp>
      </p:grpSp>
      <p:grpSp>
        <p:nvGrpSpPr>
          <p:cNvPr id="191" name="Group 191"/>
          <p:cNvGrpSpPr/>
          <p:nvPr/>
        </p:nvGrpSpPr>
        <p:grpSpPr>
          <a:xfrm>
            <a:off x="10153650" y="762000"/>
            <a:ext cx="1847850" cy="5524500"/>
            <a:chOff x="10153650" y="762000"/>
            <a:chExt cx="1847850" cy="5524500"/>
          </a:xfrm>
        </p:grpSpPr>
        <p:sp>
          <p:nvSpPr>
            <p:cNvPr id="153" name="Rectangle 153"/>
            <p:cNvSpPr/>
            <p:nvPr/>
          </p:nvSpPr>
          <p:spPr>
            <a:xfrm>
              <a:off x="10153650" y="762000"/>
              <a:ext cx="1847850" cy="5524500"/>
            </a:xfrm>
            <a:prstGeom prst="roundRect">
              <a:avLst>
                <a:gd name="adj" fmla="val 4124"/>
              </a:avLst>
            </a:prstGeom>
            <a:solidFill>
              <a:srgbClr val="F9FAFB"/>
            </a:solidFill>
            <a:ln w="9525">
              <a:solidFill>
                <a:srgbClr val="D1D5DB"/>
              </a:solidFill>
            </a:ln>
          </p:spPr>
        </p:sp>
        <p:grpSp>
          <p:nvGrpSpPr>
            <p:cNvPr id="156" name="Group 156"/>
            <p:cNvGrpSpPr/>
            <p:nvPr/>
          </p:nvGrpSpPr>
          <p:grpSpPr>
            <a:xfrm>
              <a:off x="10296525" y="904875"/>
              <a:ext cx="133350" cy="133350"/>
              <a:chOff x="10296525" y="904875"/>
              <a:chExt cx="133350" cy="133350"/>
            </a:xfrm>
          </p:grpSpPr>
          <p:sp>
            <p:nvSpPr>
              <p:cNvPr id="154" name="Freeform 154"/>
              <p:cNvSpPr/>
              <p:nvPr/>
            </p:nvSpPr>
            <p:spPr>
              <a:xfrm>
                <a:off x="10296525" y="904875"/>
                <a:ext cx="133350" cy="83476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3476">
                    <a:moveTo>
                      <a:pt x="13335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22688" y="57150"/>
                    </a:lnTo>
                    <a:lnTo>
                      <a:pt x="36976" y="28575"/>
                    </a:lnTo>
                    <a:lnTo>
                      <a:pt x="58274" y="28575"/>
                    </a:lnTo>
                    <a:lnTo>
                      <a:pt x="85725" y="83476"/>
                    </a:lnTo>
                    <a:lnTo>
                      <a:pt x="98889" y="57150"/>
                    </a:lnTo>
                    <a:lnTo>
                      <a:pt x="133350" y="57150"/>
                    </a:lnTo>
                    <a:lnTo>
                      <a:pt x="133350" y="0"/>
                    </a:lnTo>
                    <a:close/>
                  </a:path>
                </a:pathLst>
              </a:custGeom>
              <a:solidFill>
                <a:srgbClr val="1F2937"/>
              </a:solidFill>
              <a:ln>
                <a:noFill/>
              </a:ln>
            </p:spPr>
          </p:sp>
          <p:sp>
            <p:nvSpPr>
              <p:cNvPr id="155" name="Freeform 155"/>
              <p:cNvSpPr/>
              <p:nvPr/>
            </p:nvSpPr>
            <p:spPr>
              <a:xfrm>
                <a:off x="10296525" y="954749"/>
                <a:ext cx="133350" cy="83476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3476">
                    <a:moveTo>
                      <a:pt x="133350" y="26326"/>
                    </a:moveTo>
                    <a:lnTo>
                      <a:pt x="110661" y="26326"/>
                    </a:lnTo>
                    <a:lnTo>
                      <a:pt x="96374" y="54901"/>
                    </a:lnTo>
                    <a:lnTo>
                      <a:pt x="75076" y="54901"/>
                    </a:lnTo>
                    <a:lnTo>
                      <a:pt x="47625" y="0"/>
                    </a:lnTo>
                    <a:lnTo>
                      <a:pt x="34462" y="26326"/>
                    </a:lnTo>
                    <a:lnTo>
                      <a:pt x="0" y="26326"/>
                    </a:lnTo>
                    <a:lnTo>
                      <a:pt x="0" y="83476"/>
                    </a:lnTo>
                    <a:lnTo>
                      <a:pt x="133350" y="83476"/>
                    </a:lnTo>
                    <a:lnTo>
                      <a:pt x="133350" y="26326"/>
                    </a:lnTo>
                    <a:close/>
                  </a:path>
                </a:pathLst>
              </a:custGeom>
              <a:solidFill>
                <a:srgbClr val="1F2937"/>
              </a:solidFill>
              <a:ln>
                <a:noFill/>
              </a:ln>
            </p:spPr>
          </p:sp>
        </p:grpSp>
        <p:sp>
          <p:nvSpPr>
            <p:cNvPr id="157" name="TextBox 157"/>
            <p:cNvSpPr txBox="1"/>
            <p:nvPr/>
          </p:nvSpPr>
          <p:spPr>
            <a:xfrm>
              <a:off x="10486072" y="9301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可观测性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10487978" y="1079659"/>
              <a:ext cx="98476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Observability · 全链路</a:t>
              </a:r>
            </a:p>
          </p:txBody>
        </p:sp>
        <p:grpSp>
          <p:nvGrpSpPr>
            <p:cNvPr id="163" name="Group 163"/>
            <p:cNvGrpSpPr/>
            <p:nvPr/>
          </p:nvGrpSpPr>
          <p:grpSpPr>
            <a:xfrm>
              <a:off x="10287000" y="1409700"/>
              <a:ext cx="1581150" cy="538162"/>
              <a:chOff x="10287000" y="1409700"/>
              <a:chExt cx="1581150" cy="538162"/>
            </a:xfrm>
          </p:grpSpPr>
          <p:sp>
            <p:nvSpPr>
              <p:cNvPr id="159" name="Rectangle 159"/>
              <p:cNvSpPr/>
              <p:nvPr/>
            </p:nvSpPr>
            <p:spPr>
              <a:xfrm>
                <a:off x="10287000" y="1409700"/>
                <a:ext cx="158115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FFFFF"/>
              </a:solidFill>
              <a:ln w="9525">
                <a:solidFill>
                  <a:srgbClr val="D1D5DB"/>
                </a:solidFill>
              </a:ln>
            </p:spPr>
          </p:sp>
          <p:sp>
            <p:nvSpPr>
              <p:cNvPr id="160" name="TextBox 160"/>
              <p:cNvSpPr txBox="1"/>
              <p:nvPr/>
            </p:nvSpPr>
            <p:spPr>
              <a:xfrm>
                <a:off x="10408920" y="1503045"/>
                <a:ext cx="67814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OTel Trace</a:t>
                </a:r>
              </a:p>
            </p:txBody>
          </p:sp>
          <p:sp>
            <p:nvSpPr>
              <p:cNvPr id="161" name="TextBox 161"/>
              <p:cNvSpPr txBox="1"/>
              <p:nvPr/>
            </p:nvSpPr>
            <p:spPr>
              <a:xfrm>
                <a:off x="10410825" y="1671638"/>
                <a:ext cx="74414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FastAPI + Redis</a:t>
                </a:r>
              </a:p>
            </p:txBody>
          </p:sp>
          <p:sp>
            <p:nvSpPr>
              <p:cNvPr id="162" name="TextBox 162"/>
              <p:cNvSpPr txBox="1"/>
              <p:nvPr/>
            </p:nvSpPr>
            <p:spPr>
              <a:xfrm>
                <a:off x="10410825" y="1795462"/>
                <a:ext cx="66413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→ Jaeger 后端</a:t>
                </a:r>
              </a:p>
            </p:txBody>
          </p:sp>
        </p:grpSp>
        <p:grpSp>
          <p:nvGrpSpPr>
            <p:cNvPr id="168" name="Group 168"/>
            <p:cNvGrpSpPr/>
            <p:nvPr/>
          </p:nvGrpSpPr>
          <p:grpSpPr>
            <a:xfrm>
              <a:off x="10287000" y="2095500"/>
              <a:ext cx="1581150" cy="538162"/>
              <a:chOff x="10287000" y="2095500"/>
              <a:chExt cx="1581150" cy="538162"/>
            </a:xfrm>
          </p:grpSpPr>
          <p:sp>
            <p:nvSpPr>
              <p:cNvPr id="164" name="Rectangle 164"/>
              <p:cNvSpPr/>
              <p:nvPr/>
            </p:nvSpPr>
            <p:spPr>
              <a:xfrm>
                <a:off x="10287000" y="2095500"/>
                <a:ext cx="158115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FFFFF"/>
              </a:solidFill>
              <a:ln w="9525">
                <a:solidFill>
                  <a:srgbClr val="D1D5DB"/>
                </a:solidFill>
              </a:ln>
            </p:spPr>
          </p:sp>
          <p:sp>
            <p:nvSpPr>
              <p:cNvPr id="165" name="TextBox 165"/>
              <p:cNvSpPr txBox="1"/>
              <p:nvPr/>
            </p:nvSpPr>
            <p:spPr>
              <a:xfrm>
                <a:off x="10408920" y="2188845"/>
                <a:ext cx="6529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结构化日志</a:t>
                </a:r>
              </a:p>
            </p:txBody>
          </p:sp>
          <p:sp>
            <p:nvSpPr>
              <p:cNvPr id="166" name="TextBox 166"/>
              <p:cNvSpPr txBox="1"/>
              <p:nvPr/>
            </p:nvSpPr>
            <p:spPr>
              <a:xfrm>
                <a:off x="10410825" y="2357438"/>
                <a:ext cx="91916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JSON · 含 trace_id</a:t>
                </a:r>
              </a:p>
            </p:txBody>
          </p:sp>
          <p:sp>
            <p:nvSpPr>
              <p:cNvPr id="167" name="TextBox 167"/>
              <p:cNvSpPr txBox="1"/>
              <p:nvPr/>
            </p:nvSpPr>
            <p:spPr>
              <a:xfrm>
                <a:off x="10410825" y="2481262"/>
                <a:ext cx="67413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每步输入/输出</a:t>
                </a:r>
              </a:p>
            </p:txBody>
          </p:sp>
        </p:grpSp>
        <p:grpSp>
          <p:nvGrpSpPr>
            <p:cNvPr id="173" name="Group 173"/>
            <p:cNvGrpSpPr/>
            <p:nvPr/>
          </p:nvGrpSpPr>
          <p:grpSpPr>
            <a:xfrm>
              <a:off x="10287000" y="2781300"/>
              <a:ext cx="1581150" cy="538162"/>
              <a:chOff x="10287000" y="2781300"/>
              <a:chExt cx="1581150" cy="538162"/>
            </a:xfrm>
          </p:grpSpPr>
          <p:sp>
            <p:nvSpPr>
              <p:cNvPr id="169" name="Rectangle 169"/>
              <p:cNvSpPr/>
              <p:nvPr/>
            </p:nvSpPr>
            <p:spPr>
              <a:xfrm>
                <a:off x="10287000" y="2781300"/>
                <a:ext cx="158115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FFFFF"/>
              </a:solidFill>
              <a:ln w="9525">
                <a:solidFill>
                  <a:srgbClr val="D1D5DB"/>
                </a:solidFill>
              </a:ln>
            </p:spPr>
          </p:sp>
          <p:sp>
            <p:nvSpPr>
              <p:cNvPr id="170" name="TextBox 170"/>
              <p:cNvSpPr txBox="1"/>
              <p:nvPr/>
            </p:nvSpPr>
            <p:spPr>
              <a:xfrm>
                <a:off x="10408920" y="2874645"/>
                <a:ext cx="64663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Dashboard</a:t>
                </a:r>
              </a:p>
            </p:txBody>
          </p:sp>
          <p:sp>
            <p:nvSpPr>
              <p:cNvPr id="171" name="TextBox 171"/>
              <p:cNvSpPr txBox="1"/>
              <p:nvPr/>
            </p:nvSpPr>
            <p:spPr>
              <a:xfrm>
                <a:off x="10410825" y="3043238"/>
                <a:ext cx="73413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异常率 · 完成率</a:t>
                </a:r>
              </a:p>
            </p:txBody>
          </p:sp>
          <p:sp>
            <p:nvSpPr>
              <p:cNvPr id="172" name="TextBox 172"/>
              <p:cNvSpPr txBox="1"/>
              <p:nvPr/>
            </p:nvSpPr>
            <p:spPr>
              <a:xfrm>
                <a:off x="10410825" y="3167062"/>
                <a:ext cx="83415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升级率 · 响应时延</a:t>
                </a:r>
              </a:p>
            </p:txBody>
          </p:sp>
        </p:grpSp>
        <p:grpSp>
          <p:nvGrpSpPr>
            <p:cNvPr id="178" name="Group 178"/>
            <p:cNvGrpSpPr/>
            <p:nvPr/>
          </p:nvGrpSpPr>
          <p:grpSpPr>
            <a:xfrm>
              <a:off x="10287000" y="3467100"/>
              <a:ext cx="1581150" cy="538162"/>
              <a:chOff x="10287000" y="3467100"/>
              <a:chExt cx="1581150" cy="538162"/>
            </a:xfrm>
          </p:grpSpPr>
          <p:sp>
            <p:nvSpPr>
              <p:cNvPr id="174" name="Rectangle 174"/>
              <p:cNvSpPr/>
              <p:nvPr/>
            </p:nvSpPr>
            <p:spPr>
              <a:xfrm>
                <a:off x="10287000" y="3467100"/>
                <a:ext cx="158115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FFFFFF"/>
              </a:solidFill>
              <a:ln w="9525">
                <a:solidFill>
                  <a:srgbClr val="D1D5DB"/>
                </a:solidFill>
              </a:ln>
            </p:spPr>
          </p:sp>
          <p:sp>
            <p:nvSpPr>
              <p:cNvPr id="175" name="TextBox 175"/>
              <p:cNvSpPr txBox="1"/>
              <p:nvPr/>
            </p:nvSpPr>
            <p:spPr>
              <a:xfrm>
                <a:off x="10408920" y="3560445"/>
                <a:ext cx="75375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Event Store</a:t>
                </a:r>
              </a:p>
            </p:txBody>
          </p:sp>
          <p:sp>
            <p:nvSpPr>
              <p:cNvPr id="176" name="TextBox 176"/>
              <p:cNvSpPr txBox="1"/>
              <p:nvPr/>
            </p:nvSpPr>
            <p:spPr>
              <a:xfrm>
                <a:off x="10410825" y="3729038"/>
                <a:ext cx="59912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append-only</a:t>
                </a:r>
              </a:p>
            </p:txBody>
          </p:sp>
          <p:sp>
            <p:nvSpPr>
              <p:cNvPr id="177" name="TextBox 177"/>
              <p:cNvSpPr txBox="1"/>
              <p:nvPr/>
            </p:nvSpPr>
            <p:spPr>
              <a:xfrm>
                <a:off x="10410825" y="3852862"/>
                <a:ext cx="71913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不可变审计日志</a:t>
                </a:r>
              </a:p>
            </p:txBody>
          </p:sp>
        </p:grpSp>
        <p:sp>
          <p:nvSpPr>
            <p:cNvPr id="179" name="TextBox 179"/>
            <p:cNvSpPr txBox="1"/>
            <p:nvPr/>
          </p:nvSpPr>
          <p:spPr>
            <a:xfrm>
              <a:off x="10675501" y="4186238"/>
              <a:ext cx="804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↕ 贯穿全部 6 层 ↕</a:t>
              </a:r>
            </a:p>
          </p:txBody>
        </p:sp>
        <p:grpSp>
          <p:nvGrpSpPr>
            <p:cNvPr id="190" name="Group 190"/>
            <p:cNvGrpSpPr/>
            <p:nvPr/>
          </p:nvGrpSpPr>
          <p:grpSpPr>
            <a:xfrm>
              <a:off x="10287000" y="4552950"/>
              <a:ext cx="1581150" cy="1485900"/>
              <a:chOff x="10287000" y="4552950"/>
              <a:chExt cx="1581150" cy="1485900"/>
            </a:xfrm>
          </p:grpSpPr>
          <p:sp>
            <p:nvSpPr>
              <p:cNvPr id="180" name="Rectangle 180"/>
              <p:cNvSpPr/>
              <p:nvPr/>
            </p:nvSpPr>
            <p:spPr>
              <a:xfrm>
                <a:off x="10287000" y="4552950"/>
                <a:ext cx="1581150" cy="1485900"/>
              </a:xfrm>
              <a:prstGeom prst="roundRect">
                <a:avLst>
                  <a:gd name="adj" fmla="val 3846"/>
                </a:avLst>
              </a:prstGeom>
              <a:solidFill>
                <a:srgbClr val="FFFFFF"/>
              </a:solidFill>
              <a:ln w="9525">
                <a:solidFill>
                  <a:srgbClr val="D1D5DB"/>
                </a:solidFill>
              </a:ln>
            </p:spPr>
          </p:sp>
          <p:sp>
            <p:nvSpPr>
              <p:cNvPr id="181" name="Freeform 181"/>
              <p:cNvSpPr/>
              <p:nvPr/>
            </p:nvSpPr>
            <p:spPr>
              <a:xfrm>
                <a:off x="10420350" y="46863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33350" y="66675"/>
                    </a:moveTo>
                    <a:lnTo>
                      <a:pt x="66675" y="0"/>
                    </a:lnTo>
                    <a:lnTo>
                      <a:pt x="0" y="0"/>
                    </a:lnTo>
                    <a:lnTo>
                      <a:pt x="0" y="66675"/>
                    </a:lnTo>
                    <a:lnTo>
                      <a:pt x="66675" y="133350"/>
                    </a:lnTo>
                    <a:lnTo>
                      <a:pt x="133350" y="66675"/>
                    </a:lnTo>
                    <a:close/>
                    <a:moveTo>
                      <a:pt x="37505" y="50006"/>
                    </a:moveTo>
                    <a:cubicBezTo>
                      <a:pt x="44409" y="50006"/>
                      <a:pt x="50006" y="44409"/>
                      <a:pt x="50006" y="37505"/>
                    </a:cubicBezTo>
                    <a:cubicBezTo>
                      <a:pt x="50006" y="30600"/>
                      <a:pt x="44409" y="25003"/>
                      <a:pt x="37505" y="25003"/>
                    </a:cubicBezTo>
                    <a:cubicBezTo>
                      <a:pt x="30600" y="25003"/>
                      <a:pt x="25003" y="30600"/>
                      <a:pt x="25003" y="37505"/>
                    </a:cubicBezTo>
                    <a:cubicBezTo>
                      <a:pt x="25003" y="44409"/>
                      <a:pt x="30600" y="50006"/>
                      <a:pt x="37505" y="50006"/>
                    </a:cubicBezTo>
                    <a:close/>
                  </a:path>
                </a:pathLst>
              </a:custGeom>
              <a:solidFill>
                <a:srgbClr val="1F2937"/>
              </a:solidFill>
              <a:ln>
                <a:noFill/>
              </a:ln>
            </p:spPr>
          </p:sp>
          <p:sp>
            <p:nvSpPr>
              <p:cNvPr id="182" name="TextBox 182"/>
              <p:cNvSpPr txBox="1"/>
              <p:nvPr/>
            </p:nvSpPr>
            <p:spPr>
              <a:xfrm>
                <a:off x="10600372" y="4711541"/>
                <a:ext cx="76602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trace_id 透传</a:t>
                </a:r>
              </a:p>
            </p:txBody>
          </p:sp>
          <p:sp>
            <p:nvSpPr>
              <p:cNvPr id="183" name="TextBox 183"/>
              <p:cNvSpPr txBox="1"/>
              <p:nvPr/>
            </p:nvSpPr>
            <p:spPr>
              <a:xfrm>
                <a:off x="10411778" y="4956334"/>
                <a:ext cx="557213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085041"/>
                    </a:solidFill>
                    <a:latin typeface="Consolas"/>
                    <a:ea typeface="Microsoft YaHei"/>
                    <a:cs typeface="Consolas"/>
                  </a:rPr>
                  <a:t>L1 发布事件 →</a:t>
                </a:r>
              </a:p>
            </p:txBody>
          </p:sp>
          <p:sp>
            <p:nvSpPr>
              <p:cNvPr id="184" name="TextBox 184"/>
              <p:cNvSpPr txBox="1"/>
              <p:nvPr/>
            </p:nvSpPr>
            <p:spPr>
              <a:xfrm>
                <a:off x="10411778" y="5108734"/>
                <a:ext cx="62922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085041"/>
                    </a:solidFill>
                    <a:latin typeface="Consolas"/>
                    <a:ea typeface="Microsoft YaHei"/>
                    <a:cs typeface="Consolas"/>
                  </a:rPr>
                  <a:t>L2 RabbitMQ →</a:t>
                </a:r>
              </a:p>
            </p:txBody>
          </p:sp>
          <p:sp>
            <p:nvSpPr>
              <p:cNvPr id="185" name="TextBox 185"/>
              <p:cNvSpPr txBox="1"/>
              <p:nvPr/>
            </p:nvSpPr>
            <p:spPr>
              <a:xfrm>
                <a:off x="10411778" y="5261134"/>
                <a:ext cx="525709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3C3489"/>
                    </a:solidFill>
                    <a:latin typeface="Consolas"/>
                    <a:ea typeface="Microsoft YaHei"/>
                    <a:cs typeface="Consolas"/>
                  </a:rPr>
                  <a:t>L3 CT 核心 →</a:t>
                </a:r>
              </a:p>
            </p:txBody>
          </p:sp>
          <p:sp>
            <p:nvSpPr>
              <p:cNvPr id="186" name="TextBox 186"/>
              <p:cNvSpPr txBox="1"/>
              <p:nvPr/>
            </p:nvSpPr>
            <p:spPr>
              <a:xfrm>
                <a:off x="10411778" y="5413534"/>
                <a:ext cx="58421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085041"/>
                    </a:solidFill>
                    <a:latin typeface="Consolas"/>
                    <a:ea typeface="Microsoft YaHei"/>
                    <a:cs typeface="Consolas"/>
                  </a:rPr>
                  <a:t>L4 Webhook →</a:t>
                </a:r>
              </a:p>
            </p:txBody>
          </p:sp>
          <p:sp>
            <p:nvSpPr>
              <p:cNvPr id="187" name="TextBox 187"/>
              <p:cNvSpPr txBox="1"/>
              <p:nvPr/>
            </p:nvSpPr>
            <p:spPr>
              <a:xfrm>
                <a:off x="10411778" y="5565934"/>
                <a:ext cx="59771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712B13"/>
                    </a:solidFill>
                    <a:latin typeface="Consolas"/>
                    <a:ea typeface="Microsoft YaHei"/>
                    <a:cs typeface="Consolas"/>
                  </a:rPr>
                  <a:t>L5 业务 Agent</a:t>
                </a:r>
              </a:p>
            </p:txBody>
          </p:sp>
          <p:sp>
            <p:nvSpPr>
              <p:cNvPr id="188" name="TextBox 188"/>
              <p:cNvSpPr txBox="1"/>
              <p:nvPr/>
            </p:nvSpPr>
            <p:spPr>
              <a:xfrm>
                <a:off x="10411778" y="5756434"/>
                <a:ext cx="59771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同一 trace_id</a:t>
                </a:r>
              </a:p>
            </p:txBody>
          </p:sp>
          <p:sp>
            <p:nvSpPr>
              <p:cNvPr id="189" name="TextBox 189"/>
              <p:cNvSpPr txBox="1"/>
              <p:nvPr/>
            </p:nvSpPr>
            <p:spPr>
              <a:xfrm>
                <a:off x="10411778" y="5870734"/>
                <a:ext cx="73723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从异常发现到闭环</a:t>
                </a:r>
              </a:p>
            </p:txBody>
          </p:sp>
        </p:grpSp>
      </p:grpSp>
      <p:grpSp>
        <p:nvGrpSpPr>
          <p:cNvPr id="195" name="Group 195"/>
          <p:cNvGrpSpPr/>
          <p:nvPr/>
        </p:nvGrpSpPr>
        <p:grpSpPr>
          <a:xfrm>
            <a:off x="371475" y="6343650"/>
            <a:ext cx="11449050" cy="280988"/>
            <a:chOff x="371475" y="6343650"/>
            <a:chExt cx="11449050" cy="280988"/>
          </a:xfrm>
        </p:grpSpPr>
        <p:sp>
          <p:nvSpPr>
            <p:cNvPr id="192" name="Line 192"/>
            <p:cNvSpPr/>
            <p:nvPr/>
          </p:nvSpPr>
          <p:spPr>
            <a:xfrm>
              <a:off x="381000" y="63436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93" name="TextBox 193"/>
            <p:cNvSpPr txBox="1"/>
            <p:nvPr/>
          </p:nvSpPr>
          <p:spPr>
            <a:xfrm>
              <a:off x="371475" y="6472238"/>
              <a:ext cx="383952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事件驱动 · 配置驱动路由（不依赖 LLM 决策）· SAGA 回滚 · ACL 权限隔离 · 人工兜底</a:t>
              </a:r>
            </a:p>
          </p:txBody>
        </p:sp>
        <p:sp>
          <p:nvSpPr>
            <p:cNvPr id="194" name="TextBox 194"/>
            <p:cNvSpPr txBox="1"/>
            <p:nvPr/>
          </p:nvSpPr>
          <p:spPr>
            <a:xfrm>
              <a:off x="10441305" y="6472238"/>
              <a:ext cx="137922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Control Tower · Blueprint v1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/>
      <p:bldP spid="56" grpId="0"/>
      <p:bldP spid="58" grpId="0"/>
      <p:bldP spid="81" grpId="0"/>
      <p:bldP spid="84" grpId="0"/>
      <p:bldP spid="99" grpId="0"/>
      <p:bldP spid="102" grpId="0"/>
      <p:bldP spid="121" grpId="0"/>
      <p:bldP spid="124" grpId="0"/>
      <p:bldP spid="150" grpId="0"/>
      <p:bldP spid="152" grpId="0"/>
      <p:bldP spid="19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